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11"/>
  </p:notesMasterIdLst>
  <p:handoutMasterIdLst>
    <p:handoutMasterId r:id="rId12"/>
  </p:handoutMasterIdLst>
  <p:sldIdLst>
    <p:sldId id="861" r:id="rId3"/>
    <p:sldId id="863" r:id="rId4"/>
    <p:sldId id="864" r:id="rId5"/>
    <p:sldId id="862" r:id="rId6"/>
    <p:sldId id="865" r:id="rId7"/>
    <p:sldId id="860" r:id="rId8"/>
    <p:sldId id="866" r:id="rId9"/>
    <p:sldId id="867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41719C"/>
    <a:srgbClr val="1F3A60"/>
    <a:srgbClr val="5B9BD5"/>
    <a:srgbClr val="F5F8FC"/>
    <a:srgbClr val="EDEADF"/>
    <a:srgbClr val="820E59"/>
    <a:srgbClr val="516485"/>
    <a:srgbClr val="32842C"/>
    <a:srgbClr val="719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8F3981-E86F-4E5B-9B37-036029CCD3C3}" v="7" dt="2026-09-08T06:20:48.4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01" autoAdjust="0"/>
    <p:restoredTop sz="97410" autoAdjust="0"/>
  </p:normalViewPr>
  <p:slideViewPr>
    <p:cSldViewPr snapToGrid="0">
      <p:cViewPr>
        <p:scale>
          <a:sx n="75" d="100"/>
          <a:sy n="75" d="100"/>
        </p:scale>
        <p:origin x="1098" y="261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notesViewPr>
    <p:cSldViewPr snapToGrid="0">
      <p:cViewPr varScale="1">
        <p:scale>
          <a:sx n="61" d="100"/>
          <a:sy n="61" d="100"/>
        </p:scale>
        <p:origin x="2889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우진 이" userId="1a7b9fd6ed09493f" providerId="LiveId" clId="{4397DDC3-ACAB-4613-8D6A-111632BEDEF9}"/>
    <pc:docChg chg="custSel addSld modSld sldOrd">
      <pc:chgData name="우진 이" userId="1a7b9fd6ed09493f" providerId="LiveId" clId="{4397DDC3-ACAB-4613-8D6A-111632BEDEF9}" dt="2026-09-08T06:20:48.446" v="744"/>
      <pc:docMkLst>
        <pc:docMk/>
      </pc:docMkLst>
      <pc:sldChg chg="addSp modSp mod">
        <pc:chgData name="우진 이" userId="1a7b9fd6ed09493f" providerId="LiveId" clId="{4397DDC3-ACAB-4613-8D6A-111632BEDEF9}" dt="2026-09-08T06:20:48.446" v="744"/>
        <pc:sldMkLst>
          <pc:docMk/>
          <pc:sldMk cId="2594242284" sldId="822"/>
        </pc:sldMkLst>
        <pc:spChg chg="add mod">
          <ac:chgData name="우진 이" userId="1a7b9fd6ed09493f" providerId="LiveId" clId="{4397DDC3-ACAB-4613-8D6A-111632BEDEF9}" dt="2026-09-08T05:23:10.243" v="743" actId="1076"/>
          <ac:spMkLst>
            <pc:docMk/>
            <pc:sldMk cId="2594242284" sldId="822"/>
            <ac:spMk id="3" creationId="{27B5F139-F27E-4F6B-5AFE-C797C7FA2F41}"/>
          </ac:spMkLst>
        </pc:spChg>
        <pc:spChg chg="mod">
          <ac:chgData name="우진 이" userId="1a7b9fd6ed09493f" providerId="LiveId" clId="{4397DDC3-ACAB-4613-8D6A-111632BEDEF9}" dt="2026-09-08T05:22:53.435" v="720" actId="20577"/>
          <ac:spMkLst>
            <pc:docMk/>
            <pc:sldMk cId="2594242284" sldId="822"/>
            <ac:spMk id="4" creationId="{B6CC1E6D-4900-F0D9-4A96-D9326AC254CA}"/>
          </ac:spMkLst>
        </pc:spChg>
        <pc:graphicFrameChg chg="mod modGraphic">
          <ac:chgData name="우진 이" userId="1a7b9fd6ed09493f" providerId="LiveId" clId="{4397DDC3-ACAB-4613-8D6A-111632BEDEF9}" dt="2026-09-08T05:06:19.861" v="90" actId="1076"/>
          <ac:graphicFrameMkLst>
            <pc:docMk/>
            <pc:sldMk cId="2594242284" sldId="822"/>
            <ac:graphicFrameMk id="5" creationId="{9765CDE2-211E-FE29-A089-F499F2CD1798}"/>
          </ac:graphicFrameMkLst>
        </pc:graphicFrameChg>
        <pc:inkChg chg="add">
          <ac:chgData name="우진 이" userId="1a7b9fd6ed09493f" providerId="LiveId" clId="{4397DDC3-ACAB-4613-8D6A-111632BEDEF9}" dt="2026-09-08T06:20:48.446" v="744"/>
          <ac:inkMkLst>
            <pc:docMk/>
            <pc:sldMk cId="2594242284" sldId="822"/>
            <ac:inkMk id="6" creationId="{EE9A4568-7EEF-09A7-48EE-8903D4733589}"/>
          </ac:inkMkLst>
        </pc:inkChg>
      </pc:sldChg>
      <pc:sldChg chg="addSp">
        <pc:chgData name="우진 이" userId="1a7b9fd6ed09493f" providerId="LiveId" clId="{4397DDC3-ACAB-4613-8D6A-111632BEDEF9}" dt="2026-09-08T06:20:48.446" v="744"/>
        <pc:sldMkLst>
          <pc:docMk/>
          <pc:sldMk cId="1100981255" sldId="829"/>
        </pc:sldMkLst>
        <pc:inkChg chg="add">
          <ac:chgData name="우진 이" userId="1a7b9fd6ed09493f" providerId="LiveId" clId="{4397DDC3-ACAB-4613-8D6A-111632BEDEF9}" dt="2026-09-08T06:20:48.446" v="744"/>
          <ac:inkMkLst>
            <pc:docMk/>
            <pc:sldMk cId="1100981255" sldId="829"/>
            <ac:inkMk id="3" creationId="{E29AF06E-92F0-10D0-5323-D8EB87D8959C}"/>
          </ac:inkMkLst>
        </pc:inkChg>
      </pc:sldChg>
      <pc:sldChg chg="addSp">
        <pc:chgData name="우진 이" userId="1a7b9fd6ed09493f" providerId="LiveId" clId="{4397DDC3-ACAB-4613-8D6A-111632BEDEF9}" dt="2026-09-08T06:20:48.446" v="744"/>
        <pc:sldMkLst>
          <pc:docMk/>
          <pc:sldMk cId="1206083892" sldId="830"/>
        </pc:sldMkLst>
        <pc:inkChg chg="add">
          <ac:chgData name="우진 이" userId="1a7b9fd6ed09493f" providerId="LiveId" clId="{4397DDC3-ACAB-4613-8D6A-111632BEDEF9}" dt="2026-09-08T06:20:48.446" v="744"/>
          <ac:inkMkLst>
            <pc:docMk/>
            <pc:sldMk cId="1206083892" sldId="830"/>
            <ac:inkMk id="3" creationId="{EEA0CE6C-7E0B-F303-0A56-CB94E99EE985}"/>
          </ac:inkMkLst>
        </pc:inkChg>
      </pc:sldChg>
      <pc:sldChg chg="addSp">
        <pc:chgData name="우진 이" userId="1a7b9fd6ed09493f" providerId="LiveId" clId="{4397DDC3-ACAB-4613-8D6A-111632BEDEF9}" dt="2026-09-08T06:20:48.446" v="744"/>
        <pc:sldMkLst>
          <pc:docMk/>
          <pc:sldMk cId="2737926416" sldId="831"/>
        </pc:sldMkLst>
        <pc:inkChg chg="add">
          <ac:chgData name="우진 이" userId="1a7b9fd6ed09493f" providerId="LiveId" clId="{4397DDC3-ACAB-4613-8D6A-111632BEDEF9}" dt="2026-09-08T06:20:48.446" v="744"/>
          <ac:inkMkLst>
            <pc:docMk/>
            <pc:sldMk cId="2737926416" sldId="831"/>
            <ac:inkMk id="3" creationId="{05513BB5-708B-1452-D047-A61B2FCA579B}"/>
          </ac:inkMkLst>
        </pc:inkChg>
      </pc:sldChg>
      <pc:sldChg chg="addSp">
        <pc:chgData name="우진 이" userId="1a7b9fd6ed09493f" providerId="LiveId" clId="{4397DDC3-ACAB-4613-8D6A-111632BEDEF9}" dt="2026-09-08T06:20:48.446" v="744"/>
        <pc:sldMkLst>
          <pc:docMk/>
          <pc:sldMk cId="4259108608" sldId="833"/>
        </pc:sldMkLst>
        <pc:inkChg chg="add">
          <ac:chgData name="우진 이" userId="1a7b9fd6ed09493f" providerId="LiveId" clId="{4397DDC3-ACAB-4613-8D6A-111632BEDEF9}" dt="2026-09-08T06:20:48.446" v="744"/>
          <ac:inkMkLst>
            <pc:docMk/>
            <pc:sldMk cId="4259108608" sldId="833"/>
            <ac:inkMk id="3" creationId="{F192829A-9DE5-A928-BB69-093A171B9E5D}"/>
          </ac:inkMkLst>
        </pc:inkChg>
      </pc:sldChg>
      <pc:sldChg chg="addSp">
        <pc:chgData name="우진 이" userId="1a7b9fd6ed09493f" providerId="LiveId" clId="{4397DDC3-ACAB-4613-8D6A-111632BEDEF9}" dt="2026-09-08T06:20:48.446" v="744"/>
        <pc:sldMkLst>
          <pc:docMk/>
          <pc:sldMk cId="3890414688" sldId="834"/>
        </pc:sldMkLst>
        <pc:inkChg chg="add">
          <ac:chgData name="우진 이" userId="1a7b9fd6ed09493f" providerId="LiveId" clId="{4397DDC3-ACAB-4613-8D6A-111632BEDEF9}" dt="2026-09-08T06:20:48.446" v="744"/>
          <ac:inkMkLst>
            <pc:docMk/>
            <pc:sldMk cId="3890414688" sldId="834"/>
            <ac:inkMk id="3" creationId="{E76B7DF6-F22C-921C-6084-673E087DB4A5}"/>
          </ac:inkMkLst>
        </pc:inkChg>
      </pc:sldChg>
      <pc:sldChg chg="addSp">
        <pc:chgData name="우진 이" userId="1a7b9fd6ed09493f" providerId="LiveId" clId="{4397DDC3-ACAB-4613-8D6A-111632BEDEF9}" dt="2026-09-08T06:20:48.446" v="744"/>
        <pc:sldMkLst>
          <pc:docMk/>
          <pc:sldMk cId="1596788954" sldId="835"/>
        </pc:sldMkLst>
        <pc:inkChg chg="add">
          <ac:chgData name="우진 이" userId="1a7b9fd6ed09493f" providerId="LiveId" clId="{4397DDC3-ACAB-4613-8D6A-111632BEDEF9}" dt="2026-09-08T06:20:48.446" v="744"/>
          <ac:inkMkLst>
            <pc:docMk/>
            <pc:sldMk cId="1596788954" sldId="835"/>
            <ac:inkMk id="3" creationId="{9282A3B1-AC3A-63CB-52C5-97988D0571D6}"/>
          </ac:inkMkLst>
        </pc:inkChg>
      </pc:sldChg>
      <pc:sldChg chg="addSp">
        <pc:chgData name="우진 이" userId="1a7b9fd6ed09493f" providerId="LiveId" clId="{4397DDC3-ACAB-4613-8D6A-111632BEDEF9}" dt="2026-09-08T06:20:48.446" v="744"/>
        <pc:sldMkLst>
          <pc:docMk/>
          <pc:sldMk cId="45195460" sldId="838"/>
        </pc:sldMkLst>
        <pc:inkChg chg="add">
          <ac:chgData name="우진 이" userId="1a7b9fd6ed09493f" providerId="LiveId" clId="{4397DDC3-ACAB-4613-8D6A-111632BEDEF9}" dt="2026-09-08T06:20:48.446" v="744"/>
          <ac:inkMkLst>
            <pc:docMk/>
            <pc:sldMk cId="45195460" sldId="838"/>
            <ac:inkMk id="3" creationId="{A19E6ED2-5DE3-DA60-0DFC-117FAE737768}"/>
          </ac:inkMkLst>
        </pc:inkChg>
      </pc:sldChg>
      <pc:sldChg chg="addSp">
        <pc:chgData name="우진 이" userId="1a7b9fd6ed09493f" providerId="LiveId" clId="{4397DDC3-ACAB-4613-8D6A-111632BEDEF9}" dt="2026-09-08T06:20:48.446" v="744"/>
        <pc:sldMkLst>
          <pc:docMk/>
          <pc:sldMk cId="3792671998" sldId="839"/>
        </pc:sldMkLst>
        <pc:inkChg chg="add">
          <ac:chgData name="우진 이" userId="1a7b9fd6ed09493f" providerId="LiveId" clId="{4397DDC3-ACAB-4613-8D6A-111632BEDEF9}" dt="2026-09-08T06:20:48.446" v="744"/>
          <ac:inkMkLst>
            <pc:docMk/>
            <pc:sldMk cId="3792671998" sldId="839"/>
            <ac:inkMk id="3" creationId="{87595833-57E9-CA87-F0B8-C9A1FB7380A2}"/>
          </ac:inkMkLst>
        </pc:inkChg>
      </pc:sldChg>
      <pc:sldChg chg="addSp">
        <pc:chgData name="우진 이" userId="1a7b9fd6ed09493f" providerId="LiveId" clId="{4397DDC3-ACAB-4613-8D6A-111632BEDEF9}" dt="2026-09-08T06:20:48.446" v="744"/>
        <pc:sldMkLst>
          <pc:docMk/>
          <pc:sldMk cId="2332018332" sldId="840"/>
        </pc:sldMkLst>
        <pc:inkChg chg="add">
          <ac:chgData name="우진 이" userId="1a7b9fd6ed09493f" providerId="LiveId" clId="{4397DDC3-ACAB-4613-8D6A-111632BEDEF9}" dt="2026-09-08T06:20:48.446" v="744"/>
          <ac:inkMkLst>
            <pc:docMk/>
            <pc:sldMk cId="2332018332" sldId="840"/>
            <ac:inkMk id="3" creationId="{47F64A4E-DFF3-65E5-05E1-6BAE4FD29E26}"/>
          </ac:inkMkLst>
        </pc:inkChg>
      </pc:sldChg>
      <pc:sldChg chg="addSp">
        <pc:chgData name="우진 이" userId="1a7b9fd6ed09493f" providerId="LiveId" clId="{4397DDC3-ACAB-4613-8D6A-111632BEDEF9}" dt="2026-09-08T06:20:48.446" v="744"/>
        <pc:sldMkLst>
          <pc:docMk/>
          <pc:sldMk cId="4285484534" sldId="841"/>
        </pc:sldMkLst>
        <pc:inkChg chg="add">
          <ac:chgData name="우진 이" userId="1a7b9fd6ed09493f" providerId="LiveId" clId="{4397DDC3-ACAB-4613-8D6A-111632BEDEF9}" dt="2026-09-08T06:20:48.446" v="744"/>
          <ac:inkMkLst>
            <pc:docMk/>
            <pc:sldMk cId="4285484534" sldId="841"/>
            <ac:inkMk id="3" creationId="{E0790AE2-6F3F-AD54-E1AC-97029B9A3A17}"/>
          </ac:inkMkLst>
        </pc:inkChg>
      </pc:sldChg>
      <pc:sldChg chg="addSp modSp mod">
        <pc:chgData name="우진 이" userId="1a7b9fd6ed09493f" providerId="LiveId" clId="{4397DDC3-ACAB-4613-8D6A-111632BEDEF9}" dt="2026-09-08T06:20:48.446" v="744"/>
        <pc:sldMkLst>
          <pc:docMk/>
          <pc:sldMk cId="1951770868" sldId="842"/>
        </pc:sldMkLst>
        <pc:spChg chg="mod">
          <ac:chgData name="우진 이" userId="1a7b9fd6ed09493f" providerId="LiveId" clId="{4397DDC3-ACAB-4613-8D6A-111632BEDEF9}" dt="2026-09-08T05:09:37.226" v="526" actId="20577"/>
          <ac:spMkLst>
            <pc:docMk/>
            <pc:sldMk cId="1951770868" sldId="842"/>
            <ac:spMk id="2" creationId="{16FDA528-62B4-A029-877E-F26ABF79283A}"/>
          </ac:spMkLst>
        </pc:spChg>
        <pc:spChg chg="mod">
          <ac:chgData name="우진 이" userId="1a7b9fd6ed09493f" providerId="LiveId" clId="{4397DDC3-ACAB-4613-8D6A-111632BEDEF9}" dt="2026-09-08T05:13:00.383" v="719" actId="20577"/>
          <ac:spMkLst>
            <pc:docMk/>
            <pc:sldMk cId="1951770868" sldId="842"/>
            <ac:spMk id="4" creationId="{4DB5681F-FF4B-1553-FBD1-46EC7B71FC8D}"/>
          </ac:spMkLst>
        </pc:spChg>
        <pc:inkChg chg="add">
          <ac:chgData name="우진 이" userId="1a7b9fd6ed09493f" providerId="LiveId" clId="{4397DDC3-ACAB-4613-8D6A-111632BEDEF9}" dt="2026-09-08T06:20:48.446" v="744"/>
          <ac:inkMkLst>
            <pc:docMk/>
            <pc:sldMk cId="1951770868" sldId="842"/>
            <ac:inkMk id="3" creationId="{111FDAB4-96DC-48C8-6F10-4AE7E3F0C6A8}"/>
          </ac:inkMkLst>
        </pc:inkChg>
      </pc:sldChg>
      <pc:sldChg chg="addSp modSp new mod ord">
        <pc:chgData name="우진 이" userId="1a7b9fd6ed09493f" providerId="LiveId" clId="{4397DDC3-ACAB-4613-8D6A-111632BEDEF9}" dt="2026-09-08T05:02:56.448" v="27" actId="1076"/>
        <pc:sldMkLst>
          <pc:docMk/>
          <pc:sldMk cId="4155858552" sldId="843"/>
        </pc:sldMkLst>
        <pc:spChg chg="add mod">
          <ac:chgData name="우진 이" userId="1a7b9fd6ed09493f" providerId="LiveId" clId="{4397DDC3-ACAB-4613-8D6A-111632BEDEF9}" dt="2026-09-08T05:02:56.448" v="27" actId="1076"/>
          <ac:spMkLst>
            <pc:docMk/>
            <pc:sldMk cId="4155858552" sldId="843"/>
            <ac:spMk id="2" creationId="{32BF9F99-B967-4568-97C7-EBE5531D42FB}"/>
          </ac:spMkLst>
        </pc:spChg>
      </pc:sldChg>
      <pc:sldChg chg="modSp add mod">
        <pc:chgData name="우진 이" userId="1a7b9fd6ed09493f" providerId="LiveId" clId="{4397DDC3-ACAB-4613-8D6A-111632BEDEF9}" dt="2026-09-08T05:03:01.545" v="29" actId="20577"/>
        <pc:sldMkLst>
          <pc:docMk/>
          <pc:sldMk cId="510567029" sldId="844"/>
        </pc:sldMkLst>
        <pc:spChg chg="mod">
          <ac:chgData name="우진 이" userId="1a7b9fd6ed09493f" providerId="LiveId" clId="{4397DDC3-ACAB-4613-8D6A-111632BEDEF9}" dt="2026-09-08T05:03:01.545" v="29" actId="20577"/>
          <ac:spMkLst>
            <pc:docMk/>
            <pc:sldMk cId="510567029" sldId="844"/>
            <ac:spMk id="2" creationId="{9DBD9988-7F58-FE41-27FA-0EAF188A742C}"/>
          </ac:spMkLst>
        </pc:spChg>
      </pc:sldChg>
      <pc:sldChg chg="modSp add mod">
        <pc:chgData name="우진 이" userId="1a7b9fd6ed09493f" providerId="LiveId" clId="{4397DDC3-ACAB-4613-8D6A-111632BEDEF9}" dt="2026-09-08T05:03:05.137" v="31" actId="20577"/>
        <pc:sldMkLst>
          <pc:docMk/>
          <pc:sldMk cId="2954684810" sldId="845"/>
        </pc:sldMkLst>
        <pc:spChg chg="mod">
          <ac:chgData name="우진 이" userId="1a7b9fd6ed09493f" providerId="LiveId" clId="{4397DDC3-ACAB-4613-8D6A-111632BEDEF9}" dt="2026-09-08T05:03:05.137" v="31" actId="20577"/>
          <ac:spMkLst>
            <pc:docMk/>
            <pc:sldMk cId="2954684810" sldId="845"/>
            <ac:spMk id="2" creationId="{E4F67548-5004-FD53-3C02-484C4219525C}"/>
          </ac:spMkLst>
        </pc:spChg>
      </pc:sldChg>
      <pc:sldChg chg="modSp add mod">
        <pc:chgData name="우진 이" userId="1a7b9fd6ed09493f" providerId="LiveId" clId="{4397DDC3-ACAB-4613-8D6A-111632BEDEF9}" dt="2026-09-08T05:03:10.140" v="33" actId="20577"/>
        <pc:sldMkLst>
          <pc:docMk/>
          <pc:sldMk cId="1556028197" sldId="846"/>
        </pc:sldMkLst>
        <pc:spChg chg="mod">
          <ac:chgData name="우진 이" userId="1a7b9fd6ed09493f" providerId="LiveId" clId="{4397DDC3-ACAB-4613-8D6A-111632BEDEF9}" dt="2026-09-08T05:03:10.140" v="33" actId="20577"/>
          <ac:spMkLst>
            <pc:docMk/>
            <pc:sldMk cId="1556028197" sldId="846"/>
            <ac:spMk id="2" creationId="{41B4EDE2-5752-554F-09EE-1C51A8DAA00E}"/>
          </ac:spMkLst>
        </pc:spChg>
      </pc:sldChg>
      <pc:sldChg chg="modSp add mod">
        <pc:chgData name="우진 이" userId="1a7b9fd6ed09493f" providerId="LiveId" clId="{4397DDC3-ACAB-4613-8D6A-111632BEDEF9}" dt="2026-09-08T05:03:26.469" v="58" actId="1076"/>
        <pc:sldMkLst>
          <pc:docMk/>
          <pc:sldMk cId="3777886724" sldId="847"/>
        </pc:sldMkLst>
        <pc:spChg chg="mod">
          <ac:chgData name="우진 이" userId="1a7b9fd6ed09493f" providerId="LiveId" clId="{4397DDC3-ACAB-4613-8D6A-111632BEDEF9}" dt="2026-09-08T05:03:26.469" v="58" actId="1076"/>
          <ac:spMkLst>
            <pc:docMk/>
            <pc:sldMk cId="3777886724" sldId="847"/>
            <ac:spMk id="2" creationId="{1C68C751-AC7F-468B-E70B-891BCC96F5A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D599882-A415-9B2F-5CE6-168F8B7AA6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253B501-DF96-EFFD-998B-714CCBD473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8178E7-B6F3-4B5D-B0CB-A9FEFCA8E865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39E025B-023D-03E1-DB5F-77BFC00FC4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8C2E88-BE64-8F53-0DD6-0CE0958BF5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CCA8E-D156-4572-8E93-F3F69C6074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1713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88975" y="69215"/>
            <a:ext cx="5925820" cy="685165"/>
          </a:xfrm>
        </p:spPr>
        <p:txBody>
          <a:bodyPr/>
          <a:lstStyle>
            <a:lvl1pPr eaLnBrk="1" fontAlgn="auto" latinLnBrk="0" hangingPunct="1">
              <a:lnSpc>
                <a:spcPct val="100000"/>
              </a:lnSpc>
              <a:defRPr sz="3200" b="1">
                <a:latin typeface="+mn-ea"/>
                <a:ea typeface="+mn-ea"/>
              </a:defRPr>
            </a:lvl1pPr>
          </a:lstStyle>
          <a:p>
            <a:r>
              <a:rPr lang="ko-KR" altLang="en-US" dirty="0"/>
              <a:t>맑은 고딕</a:t>
            </a:r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724615" y="855569"/>
            <a:ext cx="10800000" cy="0"/>
          </a:xfrm>
          <a:prstGeom prst="line">
            <a:avLst/>
          </a:prstGeom>
          <a:ln w="38100" cmpd="thickThin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 userDrawn="1"/>
        </p:nvSpPr>
        <p:spPr>
          <a:xfrm>
            <a:off x="11275695" y="6582410"/>
            <a:ext cx="9163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A0DB2DC-4C9A-4742-B13C-FB6460FD3503}" type="slidenum">
              <a:rPr lang="en-US" altLang="zh-CN" sz="1200"/>
              <a:t>‹#›</a:t>
            </a:fld>
            <a:endParaRPr lang="en-US" altLang="zh-CN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88975" y="69215"/>
            <a:ext cx="5925820" cy="685165"/>
          </a:xfrm>
        </p:spPr>
        <p:txBody>
          <a:bodyPr/>
          <a:lstStyle>
            <a:lvl1pPr eaLnBrk="1" fontAlgn="auto" latinLnBrk="0" hangingPunct="1">
              <a:lnSpc>
                <a:spcPct val="100000"/>
              </a:lnSpc>
              <a:defRPr sz="3200" b="1">
                <a:latin typeface="+mn-ea"/>
                <a:ea typeface="+mn-ea"/>
              </a:defRPr>
            </a:lvl1pPr>
          </a:lstStyle>
          <a:p>
            <a:r>
              <a:rPr lang="ko-KR" altLang="en-US" dirty="0"/>
              <a:t>맑은 고딕</a:t>
            </a:r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0365105" y="6502400"/>
            <a:ext cx="9163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A0DB2DC-4C9A-4742-B13C-FB6460FD3503}" type="slidenum">
              <a:rPr lang="en-US" altLang="zh-CN" sz="1200"/>
              <a:t>‹#›</a:t>
            </a:fld>
            <a:endParaRPr lang="en-US" altLang="zh-CN" sz="1200" dirty="0"/>
          </a:p>
        </p:txBody>
      </p:sp>
      <p:cxnSp>
        <p:nvCxnSpPr>
          <p:cNvPr id="3" name="直接连接符 5">
            <a:extLst>
              <a:ext uri="{FF2B5EF4-FFF2-40B4-BE49-F238E27FC236}">
                <a16:creationId xmlns:a16="http://schemas.microsoft.com/office/drawing/2014/main" id="{6A8ED99C-B3F8-C963-CA97-3E5514A77648}"/>
              </a:ext>
            </a:extLst>
          </p:cNvPr>
          <p:cNvCxnSpPr/>
          <p:nvPr userDrawn="1"/>
        </p:nvCxnSpPr>
        <p:spPr>
          <a:xfrm>
            <a:off x="724615" y="855569"/>
            <a:ext cx="10800000" cy="0"/>
          </a:xfrm>
          <a:prstGeom prst="line">
            <a:avLst/>
          </a:prstGeom>
          <a:ln w="38100" cmpd="thickThin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652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B2603B-FF2D-EAD3-CD2D-339394F84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E318E9C-F6F9-DDF1-C028-37A2C06B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2E7119E-FBAA-FFC5-35A4-0714802A0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A787C1-0686-C474-3B16-21042910D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148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3192CB-80CD-7EED-4F39-376A33149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A58BA17-913E-82AD-6595-8EAAAFC184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D3785-BE7F-5E7F-593B-4D97A554B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CEEE-11A2-4CC7-94B4-A4070EFA7818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13AEF1-1E51-87D8-1EDF-DC079AD0B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DF27AD-E649-A179-37C4-97B88F76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F35A-5B12-463B-85D2-D8E7B9894F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353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566FD3-1969-E90E-6669-12B5CB1BA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0B18D5-5C1A-615C-943D-7EA7CA6F7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31C66C-66CB-EE1B-2E3A-53370CAE7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CEEE-11A2-4CC7-94B4-A4070EFA7818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54228D-5A85-C75E-F60E-E56BE3F4A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9CE3A7-868A-68F3-958B-DFDFCF0FA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F35A-5B12-463B-85D2-D8E7B9894F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79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5255B-E584-2E89-CD4B-309FDDC01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1CE79C-823A-1D13-1E8E-EEB89C52D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17C2E1-BE5A-849D-EB1A-0C9BFB4AB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CEEE-11A2-4CC7-94B4-A4070EFA7818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F9CC4C-1562-F130-4E0B-9B192DD67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98BE50-6626-7A7E-BD0D-C107254C3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F35A-5B12-463B-85D2-D8E7B9894F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816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07961-9D24-6DD4-5668-A5E3DECED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658744-B6AB-867A-4332-AE57E220C3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B9F7C0-B882-6A90-868E-82008549E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85EFE6-19F6-4C18-F833-34372224B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CEEE-11A2-4CC7-94B4-A4070EFA7818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9219A2-A924-E772-FE3B-E3A5C5617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722FCA-98D5-420B-6CBE-F673B1E5E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F35A-5B12-463B-85D2-D8E7B9894F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582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EA8FE-20A2-A64A-85DE-9760DB11C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6BEC78-923B-D233-132E-2C1C656AE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389E84-98F6-8C84-4734-46A8E23C5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8AAF61-F2D4-C726-5051-00F2522431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8449406-B00F-EBEB-A935-4BC3509BF2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23E5E12-633A-887E-82FE-32E523690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CEEE-11A2-4CC7-94B4-A4070EFA7818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6ECA5DE-0AEB-A71F-010B-539CE2A69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6A2FE82-56C4-8E40-D1A8-16D3AD9C5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F35A-5B12-463B-85D2-D8E7B9894F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167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C64BCF-01D2-8E39-871D-A997DF365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7AE8701-CC81-5A4E-D356-891306F0A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CEEE-11A2-4CC7-94B4-A4070EFA7818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CA124D-12DC-C044-5105-8F9F85D3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8C8F26-CF4C-31BD-7B0E-B9B9CDD38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F35A-5B12-463B-85D2-D8E7B9894F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161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F5A7A0C-D496-BF0C-E61D-E2147A52D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CEEE-11A2-4CC7-94B4-A4070EFA7818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C9A9FC-B570-F0E2-9F02-3239805AD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7BBD7B-A6F5-9861-7BC7-C55C8E1C3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F35A-5B12-463B-85D2-D8E7B9894F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651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86A71E-A62B-9338-134B-01071C0B4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BE0576-2825-28D9-0527-2C924E640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C0E96D-C9F0-DF2C-D2A9-ACBDDD79C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A8C05B-FD18-C2AF-64C0-7DF530002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CEEE-11A2-4CC7-94B4-A4070EFA7818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292B05-FFFD-8EF2-84C1-294E3386B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6316F4-4F64-9738-962E-C0AEF047C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F35A-5B12-463B-85D2-D8E7B9894F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634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9C8C25-074B-5F3C-1D07-93976D964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07E289-6FB7-FD26-6FDB-289A6B452A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6982A8-D7BC-21A9-6884-059CCAD1F9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DA1B32-E1AC-6E61-26DB-85432A125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CEEE-11A2-4CC7-94B4-A4070EFA7818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2039FA-855C-76B2-96D3-4CC44AC95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A7FFF3-9BC2-E80E-DD3F-59579BA89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F35A-5B12-463B-85D2-D8E7B9894F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398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205AA8-EDF8-AE12-4535-C4DF36AA1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3C6A58-BCDD-D37A-4A7A-7A5B30540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9C620F-C41D-04CC-46F9-7EF0B816E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CEEE-11A2-4CC7-94B4-A4070EFA7818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CA86E5-6C55-4DD7-27EF-BFBA5B124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56353C-C847-4DE3-11D4-00A18886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F35A-5B12-463B-85D2-D8E7B9894F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8450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67A30AF-3670-9687-0278-D5433EF5DA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AF23F3-353A-79BF-4C34-BB42614039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C0C2C3-5E7F-B534-1BA2-641AC429E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CEEE-11A2-4CC7-94B4-A4070EFA7818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F4D913-9B17-8670-0281-A31B82E36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EE7671-DBFF-9927-4CD0-0596724E4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DF35A-5B12-463B-85D2-D8E7B9894F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3248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맑은 고딕</a:t>
            </a:r>
            <a:r>
              <a:rPr lang="zh-CN" altLang="en-US" dirty="0"/>
              <a:t>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9E1AB64-4572-E555-A4ED-9C1489BDF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6F3129-83EA-0D23-054B-57313DA3D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14ADB6-5EEF-1F3C-A7BD-E05B326E4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9BCEEE-11A2-4CC7-94B4-A4070EFA7818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C0DD7C-0AE7-B95B-8A0C-0B25B0940D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44C033-9DCE-39AB-7A7B-A2AFFA46A2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3DF35A-5B12-463B-85D2-D8E7B9894F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245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00440-FD90-5BC5-7068-7CC298513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7BB7C-B945-F71D-6F5D-0FCC55728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75" y="69215"/>
            <a:ext cx="10373582" cy="685165"/>
          </a:xfrm>
        </p:spPr>
        <p:txBody>
          <a:bodyPr>
            <a:normAutofit/>
          </a:bodyPr>
          <a:lstStyle/>
          <a:p>
            <a:r>
              <a:rPr lang="ko-KR" altLang="en-US"/>
              <a:t>업무내용 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CD535A-1FD8-7254-4EAD-6609977449C7}"/>
                  </a:ext>
                </a:extLst>
              </p:cNvPr>
              <p:cNvSpPr txBox="1"/>
              <p:nvPr/>
            </p:nvSpPr>
            <p:spPr>
              <a:xfrm>
                <a:off x="688975" y="982913"/>
                <a:ext cx="11220664" cy="48921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b="1"/>
                  <a:t>논문 방향 검토</a:t>
                </a:r>
                <a:r>
                  <a:rPr lang="en-US" altLang="ko-KR" b="1"/>
                  <a:t>: </a:t>
                </a:r>
                <a:r>
                  <a:rPr lang="ko-KR" altLang="ko-KR" b="1"/>
                  <a:t>반사체 </a:t>
                </a:r>
                <a14:m>
                  <m:oMath xmlns:m="http://schemas.openxmlformats.org/officeDocument/2006/math">
                    <m:r>
                      <a:rPr lang="ko-KR" altLang="ko-KR" b="1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ko-KR" b="1"/>
                  <a:t> factor </a:t>
                </a:r>
                <a:r>
                  <a:rPr lang="ko-KR" altLang="ko-KR" b="1"/>
                  <a:t>적용 효과 및 CROMA/SPHINCS 체계 검증 (vs. PRAGMA)</a:t>
                </a:r>
                <a:endParaRPr lang="en-US" altLang="ko-KR" b="1"/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600" b="1"/>
                  <a:t>기존 계획</a:t>
                </a:r>
                <a:endParaRPr lang="en-US" altLang="ko-KR" sz="1600" b="1"/>
              </a:p>
              <a:p>
                <a:pPr marL="1200150" lvl="2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600" b="1"/>
                  <a:t>2D</a:t>
                </a:r>
                <a:r>
                  <a:rPr lang="ko-KR" altLang="en-US" sz="1600" b="1"/>
                  <a:t>에서 </a:t>
                </a:r>
                <a14:m>
                  <m:oMath xmlns:m="http://schemas.openxmlformats.org/officeDocument/2006/math">
                    <m:r>
                      <a:rPr lang="ko-KR" altLang="ko-KR" sz="1600" b="1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ko-KR" sz="1600" b="1"/>
                  <a:t> factor </a:t>
                </a:r>
                <a:r>
                  <a:rPr lang="ko-KR" altLang="en-US" sz="1600" b="1"/>
                  <a:t>적용 효과 확인 </a:t>
                </a:r>
                <a:r>
                  <a:rPr lang="en-US" altLang="ko-KR" sz="1600" b="1"/>
                  <a:t>(CROMA/SPHINCS vs. CROMA, depletion </a:t>
                </a:r>
                <a:r>
                  <a:rPr lang="ko-KR" altLang="en-US" sz="1600" b="1"/>
                  <a:t>포함</a:t>
                </a:r>
                <a:r>
                  <a:rPr lang="en-US" altLang="ko-KR" sz="1600" b="1"/>
                  <a:t>)</a:t>
                </a:r>
              </a:p>
              <a:p>
                <a:pPr marL="1657350" lvl="3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600" b="1"/>
                  <a:t>참고용으로 </a:t>
                </a:r>
                <a:r>
                  <a:rPr lang="en-US" altLang="ko-KR" sz="1600" b="1"/>
                  <a:t>PRAGMA</a:t>
                </a:r>
                <a:r>
                  <a:rPr lang="ko-KR" altLang="en-US" sz="1600" b="1"/>
                  <a:t>도 </a:t>
                </a:r>
                <a:r>
                  <a:rPr lang="en-US" altLang="ko-KR" sz="1600" b="1"/>
                  <a:t>2D</a:t>
                </a:r>
                <a:r>
                  <a:rPr lang="ko-KR" altLang="en-US" sz="1600" b="1"/>
                  <a:t>로 같이 비교하여 차이 확인</a:t>
                </a:r>
                <a:endParaRPr lang="en-US" altLang="ko-KR" sz="1600" b="1"/>
              </a:p>
              <a:p>
                <a:pPr marL="1200150" lvl="2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600" b="1"/>
                  <a:t>3D</a:t>
                </a:r>
                <a:r>
                  <a:rPr lang="ko-KR" altLang="en-US" sz="1600" b="1"/>
                  <a:t>도 같은 방식으로 비교</a:t>
                </a:r>
                <a:endParaRPr lang="en-US" altLang="ko-KR" sz="1600" b="1"/>
              </a:p>
              <a:p>
                <a:pPr marL="1200150" lvl="2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600" b="1"/>
                  <a:t>기대사항</a:t>
                </a:r>
                <a:r>
                  <a:rPr lang="en-US" altLang="ko-KR" sz="1600" b="1"/>
                  <a:t>: </a:t>
                </a:r>
                <a14:m>
                  <m:oMath xmlns:m="http://schemas.openxmlformats.org/officeDocument/2006/math">
                    <m:r>
                      <a:rPr lang="ko-KR" altLang="ko-KR" sz="1600" b="1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ko-KR" sz="1600" b="1"/>
                  <a:t> factor</a:t>
                </a:r>
                <a:r>
                  <a:rPr lang="ko-KR" altLang="en-US" sz="1600" b="1"/>
                  <a:t>를 적용하면 </a:t>
                </a:r>
                <a:r>
                  <a:rPr lang="en-US" altLang="ko-KR" sz="1600" b="1"/>
                  <a:t>CROMA reference</a:t>
                </a:r>
                <a:r>
                  <a:rPr lang="ko-KR" altLang="en-US" sz="1600" b="1"/>
                  <a:t>와 동시에 </a:t>
                </a:r>
                <a:r>
                  <a:rPr lang="en-US" altLang="ko-KR" sz="1600" b="1"/>
                  <a:t>PRAGMA</a:t>
                </a:r>
                <a:r>
                  <a:rPr lang="ko-KR" altLang="en-US" sz="1600" b="1"/>
                  <a:t> 양쪽에 모두 가까워질 것</a:t>
                </a:r>
                <a:endParaRPr lang="en-US" altLang="ko-KR" sz="1600" b="1"/>
              </a:p>
              <a:p>
                <a:pPr lvl="2">
                  <a:lnSpc>
                    <a:spcPct val="150000"/>
                  </a:lnSpc>
                </a:pPr>
                <a:r>
                  <a:rPr lang="en-US" altLang="ko-KR" sz="1600" b="1"/>
                  <a:t> </a:t>
                </a:r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600" b="1"/>
                  <a:t>고민 사항</a:t>
                </a:r>
                <a:endParaRPr lang="en-US" altLang="ko-KR" sz="1600" b="1"/>
              </a:p>
              <a:p>
                <a:pPr marL="1200150" lvl="2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ko-KR" sz="1600" b="1" i="1"/>
                      <m:t>𝜸</m:t>
                    </m:r>
                  </m:oMath>
                </a14:m>
                <a:r>
                  <a:rPr lang="ko-KR" altLang="ko-KR" sz="1600" b="1"/>
                  <a:t> factor 적용 시 </a:t>
                </a:r>
                <a:r>
                  <a:rPr lang="en-US" altLang="ko-KR" sz="1600" b="1"/>
                  <a:t>CROMA/SPHINCS </a:t>
                </a:r>
                <a:r>
                  <a:rPr lang="ko-KR" altLang="en-US" sz="1600" b="1"/>
                  <a:t>체계는 </a:t>
                </a:r>
                <a:r>
                  <a:rPr lang="ko-KR" altLang="ko-KR" sz="1600" b="1"/>
                  <a:t>same-code reference인 CROMA 해에는 더 가까워짐</a:t>
                </a:r>
                <a:r>
                  <a:rPr lang="en-US" altLang="ko-KR" sz="1600" b="1"/>
                  <a:t> </a:t>
                </a:r>
              </a:p>
              <a:p>
                <a:pPr marL="1200150" lvl="2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ko-KR" sz="1600" b="1"/>
                  <a:t>반면 PRAGMA와 비교하면, CROMA reference 자체가 PRAGMA 대비 </a:t>
                </a:r>
                <a:r>
                  <a:rPr lang="en-US" altLang="ko-KR" sz="1600" b="1"/>
                  <a:t>in</a:t>
                </a:r>
                <a:r>
                  <a:rPr lang="ko-KR" altLang="en-US" sz="1600" b="1"/>
                  <a:t> </a:t>
                </a:r>
                <a:r>
                  <a:rPr lang="en-US" altLang="ko-KR" sz="1600" b="1"/>
                  <a:t>out</a:t>
                </a:r>
                <a:r>
                  <a:rPr lang="ko-KR" altLang="en-US" sz="1600" b="1"/>
                  <a:t> </a:t>
                </a:r>
                <a:r>
                  <a:rPr lang="ko-KR" altLang="ko-KR" sz="1600" b="1"/>
                  <a:t>tilt</a:t>
                </a:r>
                <a:r>
                  <a:rPr lang="en-US" altLang="ko-KR" sz="1600" b="1"/>
                  <a:t> </a:t>
                </a:r>
                <a:r>
                  <a:rPr lang="ko-KR" altLang="ko-KR" sz="1600" b="1"/>
                  <a:t>(외곽 과대, 중심 과소)를 갖고 있어 </a:t>
                </a:r>
                <a14:m>
                  <m:oMath xmlns:m="http://schemas.openxmlformats.org/officeDocument/2006/math">
                    <m:r>
                      <a:rPr lang="ko-KR" altLang="ko-KR" sz="1600" b="1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ko-KR" altLang="ko-KR" sz="1600" b="1"/>
                  <a:t> factor로 CROMA에 가까워질수록 이 편향까지 따라가기 때문에 기존 two-step SPH 해보다 오히려 차이가 커지는 경향</a:t>
                </a:r>
                <a:br>
                  <a:rPr lang="ko-KR" altLang="ko-KR" sz="1600" b="1"/>
                </a:br>
                <a:endParaRPr lang="ko-KR" altLang="en-US" sz="1600" b="1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CD535A-1FD8-7254-4EAD-660997744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975" y="982913"/>
                <a:ext cx="11220664" cy="4892173"/>
              </a:xfrm>
              <a:prstGeom prst="rect">
                <a:avLst/>
              </a:prstGeom>
              <a:blipFill>
                <a:blip r:embed="rId2"/>
                <a:stretch>
                  <a:fillRect l="-3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0620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4C364-A234-98F6-F6CD-1ACF26E3D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83E859-3F8D-8DAC-C36F-C7A01AD0B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74" y="69215"/>
            <a:ext cx="11220665" cy="685165"/>
          </a:xfrm>
        </p:spPr>
        <p:txBody>
          <a:bodyPr>
            <a:noAutofit/>
          </a:bodyPr>
          <a:lstStyle/>
          <a:p>
            <a:r>
              <a:rPr lang="en-US" altLang="ko-KR" sz="2400"/>
              <a:t>CROMA 3D vs. PRAGMA </a:t>
            </a:r>
            <a:r>
              <a:rPr lang="ko-KR" altLang="en-US" sz="2400"/>
              <a:t>비교</a:t>
            </a:r>
            <a:r>
              <a:rPr lang="en-US" altLang="ko-KR" sz="2400"/>
              <a:t>: i-SMR ARO problem (BOC, Xenon transient)</a:t>
            </a:r>
            <a:endParaRPr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4A2CEDF-2029-5CF9-BBB3-A3D0AC3F8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306" y="2403312"/>
            <a:ext cx="5398142" cy="36726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DF8983-A4CF-54C7-C8E3-FBFEFA43490D}"/>
              </a:ext>
            </a:extLst>
          </p:cNvPr>
          <p:cNvSpPr txBox="1"/>
          <p:nvPr/>
        </p:nvSpPr>
        <p:spPr>
          <a:xfrm>
            <a:off x="6540149" y="6123535"/>
            <a:ext cx="49164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/>
              <a:t>[ CROMA (TCP0, P1) vs. PRAGMA: </a:t>
            </a:r>
          </a:p>
          <a:p>
            <a:pPr algn="ctr"/>
            <a:r>
              <a:rPr lang="en-US" altLang="ko-KR" sz="1600" b="1"/>
              <a:t>Axial power distribution and its error (BOC) ]</a:t>
            </a:r>
            <a:endParaRPr lang="ko-KR" altLang="en-US" sz="1600"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F6A2B0-F4E0-7EA4-9288-71241F4FFA2E}"/>
              </a:ext>
            </a:extLst>
          </p:cNvPr>
          <p:cNvSpPr txBox="1"/>
          <p:nvPr/>
        </p:nvSpPr>
        <p:spPr>
          <a:xfrm>
            <a:off x="688975" y="987926"/>
            <a:ext cx="10861675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b="1"/>
              <a:t>moc1d axial</a:t>
            </a:r>
            <a:r>
              <a:rPr lang="en-US" altLang="ko-KR" b="1"/>
              <a:t> </a:t>
            </a:r>
            <a:r>
              <a:rPr lang="ko-KR" altLang="ko-KR" b="1"/>
              <a:t>P1 scattering</a:t>
            </a:r>
            <a:r>
              <a:rPr lang="en-US" altLang="ko-KR" b="1"/>
              <a:t> </a:t>
            </a:r>
            <a:r>
              <a:rPr lang="ko-KR" altLang="en-US" b="1"/>
              <a:t>적용</a:t>
            </a:r>
            <a:r>
              <a:rPr lang="en-US" altLang="ko-KR" b="1"/>
              <a:t> </a:t>
            </a:r>
            <a:r>
              <a:rPr lang="ko-KR" altLang="en-US" b="1"/>
              <a:t>유무에 따른 비교 </a:t>
            </a:r>
            <a:endParaRPr lang="en-US" altLang="ko-KR" b="1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b="1"/>
              <a:t>moc1d axial</a:t>
            </a:r>
            <a:r>
              <a:rPr lang="en-US" altLang="ko-KR" b="1"/>
              <a:t> </a:t>
            </a:r>
            <a:r>
              <a:rPr lang="ko-KR" altLang="ko-KR" b="1"/>
              <a:t>P1 scattering</a:t>
            </a:r>
            <a:r>
              <a:rPr lang="en-US" altLang="ko-KR" b="1"/>
              <a:t> </a:t>
            </a:r>
            <a:r>
              <a:rPr lang="ko-KR" altLang="en-US" b="1"/>
              <a:t>적용하면</a:t>
            </a:r>
            <a:r>
              <a:rPr lang="en-US" altLang="ko-KR" b="1"/>
              <a:t>, </a:t>
            </a:r>
            <a:r>
              <a:rPr lang="ko-KR" altLang="ko-KR" b="1"/>
              <a:t>축방향·3D 출력분포는 PRAGMA와 더 가까워짐</a:t>
            </a:r>
            <a:endParaRPr lang="en-US" altLang="ko-KR" b="1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/>
              <a:t>반경방향 출력분포 </a:t>
            </a:r>
            <a:r>
              <a:rPr lang="en-US" altLang="ko-KR" b="1"/>
              <a:t>(axially integrated power distribution)</a:t>
            </a:r>
            <a:r>
              <a:rPr lang="ko-KR" altLang="en-US" b="1"/>
              <a:t>은 거의 비슷함 </a:t>
            </a:r>
            <a:endParaRPr lang="en-US" altLang="ko-KR" b="1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A1C62FF0-1AB4-CA01-AEE0-9E73B7165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72" y="2355764"/>
            <a:ext cx="5436592" cy="381861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AE73AD9-069F-6A4C-2A50-943C7D86D239}"/>
              </a:ext>
            </a:extLst>
          </p:cNvPr>
          <p:cNvSpPr txBox="1"/>
          <p:nvPr/>
        </p:nvSpPr>
        <p:spPr>
          <a:xfrm>
            <a:off x="586438" y="6369756"/>
            <a:ext cx="49784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altLang="ko-KR" sz="1600" b="1" i="0">
                <a:solidFill>
                  <a:schemeClr val="tx1"/>
                </a:solidFill>
                <a:effectLst/>
                <a:latin typeface="+mn-lt"/>
              </a:rPr>
              <a:t>[ </a:t>
            </a:r>
            <a:r>
              <a:rPr lang="ko-KR" altLang="ko-KR" sz="1600" b="1" i="0">
                <a:solidFill>
                  <a:schemeClr val="tx1"/>
                </a:solidFill>
                <a:effectLst/>
                <a:latin typeface="+mn-lt"/>
              </a:rPr>
              <a:t>x–z Pin Power Error: CROMA 3D vs. PRAGMA </a:t>
            </a:r>
            <a:r>
              <a:rPr lang="en-US" altLang="ko-KR" sz="1600" b="1"/>
              <a:t>]</a:t>
            </a:r>
            <a:endParaRPr lang="ko-KR" altLang="ko-KR" sz="1600" b="1" i="0">
              <a:solidFill>
                <a:srgbClr val="3B3B3B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110145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CDBC7-FDC3-BFB9-6576-318560CD0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2F7D1C-988A-899A-CE8C-917981D4E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74" y="69215"/>
            <a:ext cx="11220665" cy="685165"/>
          </a:xfrm>
        </p:spPr>
        <p:txBody>
          <a:bodyPr>
            <a:noAutofit/>
          </a:bodyPr>
          <a:lstStyle/>
          <a:p>
            <a:r>
              <a:rPr lang="en-US" altLang="ko-KR" sz="2400"/>
              <a:t>CROMA 3D vs. PRAGMA </a:t>
            </a:r>
            <a:r>
              <a:rPr lang="ko-KR" altLang="en-US" sz="2400"/>
              <a:t>비교</a:t>
            </a:r>
            <a:r>
              <a:rPr lang="en-US" altLang="ko-KR" sz="2400"/>
              <a:t>: i-SMR ARO problem (BOC, Xenon transient)</a:t>
            </a:r>
            <a:endParaRPr lang="ko-KR" altLang="en-US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B8A243-125B-88BC-8921-9B635BA21E79}"/>
              </a:ext>
            </a:extLst>
          </p:cNvPr>
          <p:cNvSpPr txBox="1"/>
          <p:nvPr/>
        </p:nvSpPr>
        <p:spPr>
          <a:xfrm>
            <a:off x="688975" y="987926"/>
            <a:ext cx="10861675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ko-KR" b="1"/>
              <a:t>moc1d axial</a:t>
            </a:r>
            <a:r>
              <a:rPr lang="en-US" altLang="ko-KR" b="1"/>
              <a:t> </a:t>
            </a:r>
            <a:r>
              <a:rPr lang="ko-KR" altLang="ko-KR" b="1"/>
              <a:t>P1 scattering</a:t>
            </a:r>
            <a:r>
              <a:rPr lang="en-US" altLang="ko-KR" b="1"/>
              <a:t> </a:t>
            </a:r>
            <a:r>
              <a:rPr lang="ko-KR" altLang="en-US" b="1"/>
              <a:t>적용</a:t>
            </a:r>
            <a:r>
              <a:rPr lang="en-US" altLang="ko-KR" b="1"/>
              <a:t> </a:t>
            </a:r>
            <a:r>
              <a:rPr lang="ko-KR" altLang="en-US" b="1"/>
              <a:t>유무</a:t>
            </a:r>
            <a:r>
              <a:rPr lang="en-US" altLang="ko-KR" b="1"/>
              <a:t>: </a:t>
            </a:r>
            <a:r>
              <a:rPr lang="ko-KR" altLang="en-US" b="1"/>
              <a:t>반경방향 출력분포는 거의 비슷</a:t>
            </a:r>
            <a:endParaRPr lang="en-US" altLang="ko-KR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b="1"/>
              <a:t>또한</a:t>
            </a:r>
            <a:r>
              <a:rPr lang="en-US" altLang="ko-KR" b="1"/>
              <a:t>, </a:t>
            </a:r>
            <a:r>
              <a:rPr lang="ko-KR" altLang="ko-KR" b="1"/>
              <a:t>CROMA reference 자체가 PRAGMA 대비 </a:t>
            </a:r>
            <a:r>
              <a:rPr lang="en-US" altLang="ko-KR" b="1"/>
              <a:t>in</a:t>
            </a:r>
            <a:r>
              <a:rPr lang="ko-KR" altLang="en-US" b="1"/>
              <a:t> </a:t>
            </a:r>
            <a:r>
              <a:rPr lang="en-US" altLang="ko-KR" b="1"/>
              <a:t>out</a:t>
            </a:r>
            <a:r>
              <a:rPr lang="ko-KR" altLang="en-US" b="1"/>
              <a:t> </a:t>
            </a:r>
            <a:r>
              <a:rPr lang="ko-KR" altLang="ko-KR" b="1"/>
              <a:t>tilt</a:t>
            </a:r>
            <a:r>
              <a:rPr lang="en-US" altLang="ko-KR" b="1"/>
              <a:t> </a:t>
            </a:r>
            <a:r>
              <a:rPr lang="ko-KR" altLang="ko-KR" b="1"/>
              <a:t>(외곽 과대, 중심 과소)를 갖고</a:t>
            </a:r>
            <a:r>
              <a:rPr lang="en-US" altLang="ko-KR" b="1"/>
              <a:t> </a:t>
            </a:r>
            <a:r>
              <a:rPr lang="ko-KR" altLang="en-US" b="1"/>
              <a:t>있음</a:t>
            </a:r>
            <a:r>
              <a:rPr lang="en-US" altLang="ko-KR" b="1"/>
              <a:t>.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38FC6F0-47FC-1DFB-5B38-74C5757F370C}"/>
              </a:ext>
            </a:extLst>
          </p:cNvPr>
          <p:cNvGrpSpPr/>
          <p:nvPr/>
        </p:nvGrpSpPr>
        <p:grpSpPr>
          <a:xfrm>
            <a:off x="152400" y="2434162"/>
            <a:ext cx="11887200" cy="2950514"/>
            <a:chOff x="88900" y="2484962"/>
            <a:chExt cx="11887200" cy="2950514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2484875-607F-F162-CDE1-D657BB7F3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00" y="2484962"/>
              <a:ext cx="5670550" cy="2950514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A3B3CA3D-6B31-5539-5641-C3CCB212D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78550" y="2484962"/>
              <a:ext cx="5797550" cy="2950513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D837250-3E66-BCEB-BF39-06758425DF87}"/>
              </a:ext>
            </a:extLst>
          </p:cNvPr>
          <p:cNvSpPr txBox="1"/>
          <p:nvPr/>
        </p:nvSpPr>
        <p:spPr>
          <a:xfrm>
            <a:off x="2003410" y="5870074"/>
            <a:ext cx="81851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altLang="ko-KR" sz="1600" b="1" i="0">
                <a:solidFill>
                  <a:schemeClr val="tx1"/>
                </a:solidFill>
                <a:effectLst/>
                <a:latin typeface="+mn-lt"/>
              </a:rPr>
              <a:t>[ comparison of </a:t>
            </a:r>
            <a:r>
              <a:rPr lang="en-US" altLang="ko-KR" sz="1600" b="1"/>
              <a:t>radial power distribution error</a:t>
            </a:r>
            <a:r>
              <a:rPr lang="ko-KR" altLang="ko-KR" sz="1600" b="1" i="0">
                <a:solidFill>
                  <a:schemeClr val="tx1"/>
                </a:solidFill>
                <a:effectLst/>
                <a:latin typeface="+mn-lt"/>
              </a:rPr>
              <a:t>: CROMA 3D</a:t>
            </a:r>
            <a:r>
              <a:rPr lang="en-US" altLang="ko-KR" sz="1600" b="1" i="0"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lang="en-US" altLang="ko-KR" sz="1600" b="1"/>
              <a:t>p0,</a:t>
            </a:r>
            <a:r>
              <a:rPr lang="ko-KR" altLang="en-US" sz="1600" b="1"/>
              <a:t> </a:t>
            </a:r>
            <a:r>
              <a:rPr lang="en-US" altLang="ko-KR" sz="1600" b="1"/>
              <a:t>p1)</a:t>
            </a:r>
            <a:r>
              <a:rPr lang="ko-KR" altLang="ko-KR" sz="1600" b="1" i="0">
                <a:solidFill>
                  <a:schemeClr val="tx1"/>
                </a:solidFill>
                <a:effectLst/>
                <a:latin typeface="+mn-lt"/>
              </a:rPr>
              <a:t> vs. PRAGMA </a:t>
            </a:r>
            <a:r>
              <a:rPr lang="en-US" altLang="ko-KR" sz="1600" b="1"/>
              <a:t>]</a:t>
            </a:r>
            <a:endParaRPr lang="ko-KR" altLang="ko-KR" sz="1600" b="1" i="0">
              <a:solidFill>
                <a:srgbClr val="3B3B3B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514570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B9FE7-CFFF-B0D5-177C-35C6FA048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3BA473-0B36-70F6-076F-FCF9CB4C3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75" y="69215"/>
            <a:ext cx="10373582" cy="685165"/>
          </a:xfrm>
        </p:spPr>
        <p:txBody>
          <a:bodyPr>
            <a:normAutofit/>
          </a:bodyPr>
          <a:lstStyle/>
          <a:p>
            <a:r>
              <a:rPr lang="en-US" altLang="ko-KR"/>
              <a:t>CROMA 3D vs. SPHINCS </a:t>
            </a:r>
            <a:r>
              <a:rPr lang="ko-KR" altLang="en-US"/>
              <a:t>비교 </a:t>
            </a:r>
            <a:r>
              <a:rPr lang="en-US" altLang="ko-KR"/>
              <a:t>(Xe transient)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F0A4A-3659-B749-0A15-F08B1DB27374}"/>
              </a:ext>
            </a:extLst>
          </p:cNvPr>
          <p:cNvSpPr txBox="1"/>
          <p:nvPr/>
        </p:nvSpPr>
        <p:spPr>
          <a:xfrm>
            <a:off x="688975" y="987926"/>
            <a:ext cx="10861675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C753AF-434D-6E37-8F5A-B0F06FB5FF0D}"/>
                  </a:ext>
                </a:extLst>
              </p:cNvPr>
              <p:cNvSpPr txBox="1"/>
              <p:nvPr/>
            </p:nvSpPr>
            <p:spPr>
              <a:xfrm>
                <a:off x="688975" y="982913"/>
                <a:ext cx="11220664" cy="1285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altLang="ko-KR" b="1"/>
                  <a:t>CROMA 3D</a:t>
                </a:r>
                <a:r>
                  <a:rPr lang="ko-KR" altLang="en-US" b="1"/>
                  <a:t>를 기준으로하여</a:t>
                </a:r>
                <a:r>
                  <a:rPr lang="en-US" altLang="ko-KR" b="1"/>
                  <a:t>, CROMA/SPHINCS </a:t>
                </a:r>
                <a:r>
                  <a:rPr lang="ko-KR" altLang="en-US" b="1"/>
                  <a:t>체계 </a:t>
                </a:r>
                <a:r>
                  <a:rPr lang="ko-KR" altLang="ko-KR" b="1"/>
                  <a:t>반사체 </a:t>
                </a:r>
                <a14:m>
                  <m:oMath xmlns:m="http://schemas.openxmlformats.org/officeDocument/2006/math">
                    <m:r>
                      <a:rPr lang="ko-KR" altLang="ko-KR" b="1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ko-KR" b="1"/>
                  <a:t> factor </a:t>
                </a:r>
                <a:r>
                  <a:rPr lang="ko-KR" altLang="ko-KR" b="1"/>
                  <a:t>적용</a:t>
                </a:r>
                <a:r>
                  <a:rPr lang="en-US" altLang="ko-KR" b="1"/>
                  <a:t> </a:t>
                </a:r>
                <a:r>
                  <a:rPr lang="ko-KR" altLang="en-US" b="1"/>
                  <a:t>유무에 따른 비교</a:t>
                </a:r>
                <a:endParaRPr lang="en-US" altLang="ko-KR" b="1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ko-KR" altLang="ko-KR" b="1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ko-KR" altLang="ko-KR" b="1"/>
                  <a:t> factor 적용 시 </a:t>
                </a:r>
                <a:r>
                  <a:rPr lang="en-US" altLang="ko-KR" b="1"/>
                  <a:t>CROMA/SPHINCS </a:t>
                </a:r>
                <a:r>
                  <a:rPr lang="ko-KR" altLang="en-US" b="1"/>
                  <a:t>체계는 </a:t>
                </a:r>
                <a:r>
                  <a:rPr lang="ko-KR" altLang="ko-KR" b="1"/>
                  <a:t>same-code reference인 CROMA 해에는 더 가까워짐</a:t>
                </a:r>
                <a:r>
                  <a:rPr lang="en-US" altLang="ko-KR" b="1"/>
                  <a:t> 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endParaRPr lang="en-US" altLang="ko-KR" b="1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C753AF-434D-6E37-8F5A-B0F06FB5F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975" y="982913"/>
                <a:ext cx="11220664" cy="1285288"/>
              </a:xfrm>
              <a:prstGeom prst="rect">
                <a:avLst/>
              </a:prstGeom>
              <a:blipFill>
                <a:blip r:embed="rId2"/>
                <a:stretch>
                  <a:fillRect l="-3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그림 18">
            <a:extLst>
              <a:ext uri="{FF2B5EF4-FFF2-40B4-BE49-F238E27FC236}">
                <a16:creationId xmlns:a16="http://schemas.microsoft.com/office/drawing/2014/main" id="{0A362BA8-3FDE-F7B0-EF65-498576D75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68676"/>
            <a:ext cx="12192000" cy="4330348"/>
          </a:xfrm>
          <a:prstGeom prst="rect">
            <a:avLst/>
          </a:prstGeom>
        </p:spPr>
      </p:pic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08225D4-EEDF-2833-C479-437F04B4E592}"/>
              </a:ext>
            </a:extLst>
          </p:cNvPr>
          <p:cNvCxnSpPr/>
          <p:nvPr/>
        </p:nvCxnSpPr>
        <p:spPr>
          <a:xfrm>
            <a:off x="5981700" y="2203450"/>
            <a:ext cx="0" cy="452755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3C2D5EE-2F06-2BB4-9193-B2081C79C427}"/>
              </a:ext>
            </a:extLst>
          </p:cNvPr>
          <p:cNvSpPr txBox="1"/>
          <p:nvPr/>
        </p:nvSpPr>
        <p:spPr>
          <a:xfrm>
            <a:off x="1339850" y="6419453"/>
            <a:ext cx="3663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/>
              <a:t>[ SPHINCS (SPH) vs. CROMA ]</a:t>
            </a:r>
            <a:endParaRPr lang="ko-KR" altLang="en-US" b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19543A-F786-867B-F38B-E62DBA46076F}"/>
              </a:ext>
            </a:extLst>
          </p:cNvPr>
          <p:cNvSpPr txBox="1"/>
          <p:nvPr/>
        </p:nvSpPr>
        <p:spPr>
          <a:xfrm>
            <a:off x="6299307" y="6419453"/>
            <a:ext cx="528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/>
              <a:t>[ SPHINCS (SPH+D correction) vs. CROMA ]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2041561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56E4C-A5A8-AC15-F28F-52DB1E4DD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665405F6-A9C2-C818-9478-AC62BB7D7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9827"/>
            <a:ext cx="12192000" cy="437223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EE2D10F-D32F-3A99-E67B-6C391EA9D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75" y="69215"/>
            <a:ext cx="10373582" cy="685165"/>
          </a:xfrm>
        </p:spPr>
        <p:txBody>
          <a:bodyPr>
            <a:normAutofit/>
          </a:bodyPr>
          <a:lstStyle/>
          <a:p>
            <a:r>
              <a:rPr lang="en-US" altLang="ko-KR"/>
              <a:t>PRAGMA vs. SPHINCS </a:t>
            </a:r>
            <a:r>
              <a:rPr lang="ko-KR" altLang="en-US"/>
              <a:t>비교 </a:t>
            </a:r>
            <a:r>
              <a:rPr lang="en-US" altLang="ko-KR"/>
              <a:t>(Xe transient)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49374C-BE94-641E-0172-DF38CB964537}"/>
              </a:ext>
            </a:extLst>
          </p:cNvPr>
          <p:cNvSpPr txBox="1"/>
          <p:nvPr/>
        </p:nvSpPr>
        <p:spPr>
          <a:xfrm>
            <a:off x="688975" y="987926"/>
            <a:ext cx="10861675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3BCE94-B175-7F17-653A-CFBACCE26262}"/>
                  </a:ext>
                </a:extLst>
              </p:cNvPr>
              <p:cNvSpPr txBox="1"/>
              <p:nvPr/>
            </p:nvSpPr>
            <p:spPr>
              <a:xfrm>
                <a:off x="688975" y="982913"/>
                <a:ext cx="11220664" cy="1285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altLang="ko-KR" b="1"/>
                  <a:t>PRAGMA</a:t>
                </a:r>
                <a:r>
                  <a:rPr lang="ko-KR" altLang="en-US" b="1"/>
                  <a:t>를 기준으로하여</a:t>
                </a:r>
                <a:r>
                  <a:rPr lang="en-US" altLang="ko-KR" b="1"/>
                  <a:t>, CROMA/SPHINCS </a:t>
                </a:r>
                <a:r>
                  <a:rPr lang="ko-KR" altLang="en-US" b="1"/>
                  <a:t>체계 </a:t>
                </a:r>
                <a:r>
                  <a:rPr lang="ko-KR" altLang="ko-KR" b="1"/>
                  <a:t>반사체 </a:t>
                </a:r>
                <a14:m>
                  <m:oMath xmlns:m="http://schemas.openxmlformats.org/officeDocument/2006/math">
                    <m:r>
                      <a:rPr lang="ko-KR" altLang="ko-KR" b="1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ko-KR" b="1"/>
                  <a:t> factor </a:t>
                </a:r>
                <a:r>
                  <a:rPr lang="ko-KR" altLang="ko-KR" b="1"/>
                  <a:t>적용</a:t>
                </a:r>
                <a:r>
                  <a:rPr lang="en-US" altLang="ko-KR" b="1"/>
                  <a:t> </a:t>
                </a:r>
                <a:r>
                  <a:rPr lang="ko-KR" altLang="en-US" b="1"/>
                  <a:t>유무에 따른 비교</a:t>
                </a:r>
                <a:endParaRPr lang="en-US" altLang="ko-KR" b="1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ko-KR" altLang="ko-KR" b="1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ko-KR" altLang="ko-KR" b="1"/>
                  <a:t> factor로 CROMA에 가까워</a:t>
                </a:r>
                <a:r>
                  <a:rPr lang="ko-KR" altLang="en-US" b="1"/>
                  <a:t>져</a:t>
                </a:r>
                <a:r>
                  <a:rPr lang="en-US" altLang="ko-KR" b="1"/>
                  <a:t>, </a:t>
                </a:r>
                <a:r>
                  <a:rPr lang="ko-KR" altLang="en-US" b="1"/>
                  <a:t>오히려 </a:t>
                </a:r>
                <a:r>
                  <a:rPr lang="ko-KR" altLang="ko-KR" b="1"/>
                  <a:t>기존 two-step SPH 해보다 오히려 차이가 </a:t>
                </a:r>
                <a:r>
                  <a:rPr lang="ko-KR" altLang="en-US" b="1"/>
                  <a:t>일부분 </a:t>
                </a:r>
                <a:r>
                  <a:rPr lang="ko-KR" altLang="ko-KR" b="1"/>
                  <a:t>커</a:t>
                </a:r>
                <a:r>
                  <a:rPr lang="ko-KR" altLang="en-US" b="1"/>
                  <a:t>짐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endParaRPr lang="en-US" altLang="ko-KR" b="1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E3BCE94-B175-7F17-653A-CFBACCE26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975" y="982913"/>
                <a:ext cx="11220664" cy="1285288"/>
              </a:xfrm>
              <a:prstGeom prst="rect">
                <a:avLst/>
              </a:prstGeom>
              <a:blipFill>
                <a:blip r:embed="rId3"/>
                <a:stretch>
                  <a:fillRect l="-3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406BB3D-D245-D428-93CB-3312BB77E88A}"/>
              </a:ext>
            </a:extLst>
          </p:cNvPr>
          <p:cNvCxnSpPr/>
          <p:nvPr/>
        </p:nvCxnSpPr>
        <p:spPr>
          <a:xfrm>
            <a:off x="5981700" y="2203450"/>
            <a:ext cx="0" cy="452755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0C1FCB6-4033-4B96-3738-CAE0F19E3E90}"/>
              </a:ext>
            </a:extLst>
          </p:cNvPr>
          <p:cNvSpPr txBox="1"/>
          <p:nvPr/>
        </p:nvSpPr>
        <p:spPr>
          <a:xfrm>
            <a:off x="1339850" y="6419453"/>
            <a:ext cx="3663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/>
              <a:t>[ SPHINCS (SPH) vs. CROMA ]</a:t>
            </a:r>
            <a:endParaRPr lang="ko-KR" altLang="en-US" b="1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7B0DB9-7B7C-5701-8CFE-051932686CD9}"/>
              </a:ext>
            </a:extLst>
          </p:cNvPr>
          <p:cNvSpPr txBox="1"/>
          <p:nvPr/>
        </p:nvSpPr>
        <p:spPr>
          <a:xfrm>
            <a:off x="6299307" y="6419453"/>
            <a:ext cx="528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/>
              <a:t>[ SPHINCS (SPH+D correction) vs. CROMA ]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1284315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E01E4-65B0-5157-66B8-D90E3C88A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32C4B9-15CA-193F-FD3A-B8A3DB311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75" y="69215"/>
            <a:ext cx="10373582" cy="685165"/>
          </a:xfrm>
        </p:spPr>
        <p:txBody>
          <a:bodyPr>
            <a:normAutofit/>
          </a:bodyPr>
          <a:lstStyle/>
          <a:p>
            <a:r>
              <a:rPr lang="ko-KR" altLang="en-US"/>
              <a:t>종합비교 표 요약 </a:t>
            </a:r>
            <a:r>
              <a:rPr lang="en-US" altLang="ko-KR"/>
              <a:t>(vs. PRAGMA)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B18BFFB-4DF5-8744-D282-9E50BEF58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447206"/>
              </p:ext>
            </p:extLst>
          </p:nvPr>
        </p:nvGraphicFramePr>
        <p:xfrm>
          <a:off x="123786" y="1123712"/>
          <a:ext cx="11944428" cy="47403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1964">
                  <a:extLst>
                    <a:ext uri="{9D8B030D-6E8A-4147-A177-3AD203B41FA5}">
                      <a16:colId xmlns:a16="http://schemas.microsoft.com/office/drawing/2014/main" val="18751881"/>
                    </a:ext>
                  </a:extLst>
                </a:gridCol>
                <a:gridCol w="1320352">
                  <a:extLst>
                    <a:ext uri="{9D8B030D-6E8A-4147-A177-3AD203B41FA5}">
                      <a16:colId xmlns:a16="http://schemas.microsoft.com/office/drawing/2014/main" val="3375579646"/>
                    </a:ext>
                  </a:extLst>
                </a:gridCol>
                <a:gridCol w="1320352">
                  <a:extLst>
                    <a:ext uri="{9D8B030D-6E8A-4147-A177-3AD203B41FA5}">
                      <a16:colId xmlns:a16="http://schemas.microsoft.com/office/drawing/2014/main" val="3485784547"/>
                    </a:ext>
                  </a:extLst>
                </a:gridCol>
                <a:gridCol w="1320352">
                  <a:extLst>
                    <a:ext uri="{9D8B030D-6E8A-4147-A177-3AD203B41FA5}">
                      <a16:colId xmlns:a16="http://schemas.microsoft.com/office/drawing/2014/main" val="2465459005"/>
                    </a:ext>
                  </a:extLst>
                </a:gridCol>
                <a:gridCol w="1320352">
                  <a:extLst>
                    <a:ext uri="{9D8B030D-6E8A-4147-A177-3AD203B41FA5}">
                      <a16:colId xmlns:a16="http://schemas.microsoft.com/office/drawing/2014/main" val="2510690698"/>
                    </a:ext>
                  </a:extLst>
                </a:gridCol>
                <a:gridCol w="1320352">
                  <a:extLst>
                    <a:ext uri="{9D8B030D-6E8A-4147-A177-3AD203B41FA5}">
                      <a16:colId xmlns:a16="http://schemas.microsoft.com/office/drawing/2014/main" val="3613543705"/>
                    </a:ext>
                  </a:extLst>
                </a:gridCol>
                <a:gridCol w="1320352">
                  <a:extLst>
                    <a:ext uri="{9D8B030D-6E8A-4147-A177-3AD203B41FA5}">
                      <a16:colId xmlns:a16="http://schemas.microsoft.com/office/drawing/2014/main" val="3204944728"/>
                    </a:ext>
                  </a:extLst>
                </a:gridCol>
                <a:gridCol w="1320352">
                  <a:extLst>
                    <a:ext uri="{9D8B030D-6E8A-4147-A177-3AD203B41FA5}">
                      <a16:colId xmlns:a16="http://schemas.microsoft.com/office/drawing/2014/main" val="1815927352"/>
                    </a:ext>
                  </a:extLst>
                </a:gridCol>
              </a:tblGrid>
              <a:tr h="7148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500" b="1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vs. PRAGMA case (BOC)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71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500" b="1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keff error (pcm)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71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500" b="1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FA MAX (%)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71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500" b="1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FA RMS (%)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71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500" b="1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Pin MAX (%)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71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500" b="1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Pin RMS (%)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71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500" b="1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Axial MAX (%)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719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500" b="1" i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Axial RMS (%)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71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501675"/>
                  </a:ext>
                </a:extLst>
              </a:tr>
              <a:tr h="503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1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*</a:t>
                      </a:r>
                      <a:r>
                        <a:rPr lang="ko-KR" sz="1500" b="1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Nodal (2g)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+57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2.00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1.41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5.63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1.58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4.75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1.65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607839"/>
                  </a:ext>
                </a:extLst>
              </a:tr>
              <a:tr h="503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1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**</a:t>
                      </a:r>
                      <a:r>
                        <a:rPr lang="ko-KR" sz="1500" b="1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Pin (4g): SPH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+100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2.04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1.36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2.85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1.42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1.16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0.50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483346"/>
                  </a:ext>
                </a:extLst>
              </a:tr>
              <a:tr h="503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1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**</a:t>
                      </a:r>
                      <a:r>
                        <a:rPr lang="ko-KR" sz="1500" b="1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Pin (5g): SPH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+24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1.75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0.92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3.14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0.98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1.86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0.52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394825"/>
                  </a:ext>
                </a:extLst>
              </a:tr>
              <a:tr h="503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1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**</a:t>
                      </a:r>
                      <a:r>
                        <a:rPr lang="ko-KR" sz="1500" b="1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Pin (7g): SPH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−6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1.42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0.68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2.16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0.76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2.15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0.63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8384756"/>
                  </a:ext>
                </a:extLst>
              </a:tr>
              <a:tr h="503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1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**</a:t>
                      </a:r>
                      <a:r>
                        <a:rPr lang="ko-KR" sz="1500" b="1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Pin (4g): SPH+D correction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+96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1.86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1.24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2.48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1.31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1.16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0.50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71496"/>
                  </a:ext>
                </a:extLst>
              </a:tr>
              <a:tr h="503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1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**</a:t>
                      </a:r>
                      <a:r>
                        <a:rPr lang="ko-KR" sz="1500" b="1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Pin (5g): SPH+D correction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+46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1.36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1.04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3.03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1.10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1.96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0.54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126514"/>
                  </a:ext>
                </a:extLst>
              </a:tr>
              <a:tr h="503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1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**</a:t>
                      </a:r>
                      <a:r>
                        <a:rPr lang="ko-KR" sz="1500" b="1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Pin (7g): SPH+D correction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+16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1.07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0.73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1.60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0.79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2.25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0.64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5416"/>
                  </a:ext>
                </a:extLst>
              </a:tr>
              <a:tr h="5031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500" b="1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CROMA 3D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+13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1.46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1.03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2.23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1.09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1.10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2000" b="0" i="0">
                          <a:solidFill>
                            <a:srgbClr val="3B3B3B"/>
                          </a:solidFill>
                          <a:effectLst/>
                          <a:latin typeface="+mj-lt"/>
                        </a:rPr>
                        <a:t>0.41</a:t>
                      </a:r>
                    </a:p>
                  </a:txBody>
                  <a:tcPr marL="9525" marR="9525" marT="9525" marB="95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15902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765A2DC-86A7-1A1B-341D-89901C904FE9}"/>
              </a:ext>
            </a:extLst>
          </p:cNvPr>
          <p:cNvSpPr txBox="1"/>
          <p:nvPr/>
        </p:nvSpPr>
        <p:spPr>
          <a:xfrm>
            <a:off x="123786" y="6413290"/>
            <a:ext cx="10452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**Pin case: CROMA FA, CROMA radial XS, CROMA axial reflector XS (moc1d, P1 scattering)</a:t>
            </a:r>
            <a:endParaRPr lang="ko-KR" altLang="en-US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7B5896-0CFC-478A-5948-6DA60F6B1EB4}"/>
              </a:ext>
            </a:extLst>
          </p:cNvPr>
          <p:cNvSpPr txBox="1"/>
          <p:nvPr/>
        </p:nvSpPr>
        <p:spPr>
          <a:xfrm>
            <a:off x="123786" y="6043958"/>
            <a:ext cx="11944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/>
              <a:t>*Nodal case: CROMA FA, CROMA radial XS, </a:t>
            </a:r>
            <a:r>
              <a:rPr lang="en-US" altLang="ko-KR" b="1">
                <a:solidFill>
                  <a:srgbClr val="0000FF"/>
                </a:solidFill>
              </a:rPr>
              <a:t>PRAMGA axial reflector XS (CROMA</a:t>
            </a:r>
            <a:r>
              <a:rPr lang="ko-KR" altLang="en-US" b="1">
                <a:solidFill>
                  <a:srgbClr val="0000FF"/>
                </a:solidFill>
              </a:rPr>
              <a:t>에서 </a:t>
            </a:r>
            <a:r>
              <a:rPr lang="en-US" altLang="ko-KR" b="1">
                <a:solidFill>
                  <a:srgbClr val="0000FF"/>
                </a:solidFill>
              </a:rPr>
              <a:t>z</a:t>
            </a:r>
            <a:r>
              <a:rPr lang="ko-KR" altLang="en-US" b="1">
                <a:solidFill>
                  <a:srgbClr val="0000FF"/>
                </a:solidFill>
              </a:rPr>
              <a:t>축 </a:t>
            </a:r>
            <a:r>
              <a:rPr lang="en-US" altLang="ko-KR" b="1">
                <a:solidFill>
                  <a:srgbClr val="0000FF"/>
                </a:solidFill>
              </a:rPr>
              <a:t>current </a:t>
            </a:r>
            <a:r>
              <a:rPr lang="ko-KR" altLang="en-US" b="1">
                <a:solidFill>
                  <a:srgbClr val="0000FF"/>
                </a:solidFill>
              </a:rPr>
              <a:t>출력 필요</a:t>
            </a:r>
            <a:r>
              <a:rPr lang="en-US" altLang="ko-KR" b="1">
                <a:solidFill>
                  <a:srgbClr val="0000FF"/>
                </a:solidFill>
              </a:rPr>
              <a:t>) </a:t>
            </a:r>
            <a:endParaRPr lang="ko-KR" altLang="en-US" b="1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433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73A8D-71C7-9AD2-6F28-E3910EEB8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A94CF6-9821-A79F-A7B9-A2D156E2E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75" y="69215"/>
            <a:ext cx="10373582" cy="685165"/>
          </a:xfrm>
        </p:spPr>
        <p:txBody>
          <a:bodyPr>
            <a:normAutofit/>
          </a:bodyPr>
          <a:lstStyle/>
          <a:p>
            <a:r>
              <a:rPr lang="ko-KR" altLang="en-US"/>
              <a:t>업무내용 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B301C1-52E4-7319-7D4F-3B0A95DE0638}"/>
                  </a:ext>
                </a:extLst>
              </p:cNvPr>
              <p:cNvSpPr txBox="1"/>
              <p:nvPr/>
            </p:nvSpPr>
            <p:spPr>
              <a:xfrm>
                <a:off x="688975" y="982913"/>
                <a:ext cx="11220664" cy="3784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ko-KR" altLang="en-US" b="1"/>
                  <a:t>논문 방향 검토</a:t>
                </a:r>
                <a:r>
                  <a:rPr lang="en-US" altLang="ko-KR" b="1"/>
                  <a:t>: </a:t>
                </a:r>
                <a:r>
                  <a:rPr lang="ko-KR" altLang="ko-KR" b="1"/>
                  <a:t>반사체 </a:t>
                </a:r>
                <a14:m>
                  <m:oMath xmlns:m="http://schemas.openxmlformats.org/officeDocument/2006/math">
                    <m:r>
                      <a:rPr lang="ko-KR" altLang="ko-KR" b="1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ko-KR" b="1"/>
                  <a:t> factor </a:t>
                </a:r>
                <a:r>
                  <a:rPr lang="ko-KR" altLang="ko-KR" b="1"/>
                  <a:t>적용 효과 </a:t>
                </a:r>
                <a:endParaRPr lang="en-US" altLang="ko-KR" b="1"/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ko-KR" sz="1600" b="1"/>
                  <a:t>반사체 </a:t>
                </a:r>
                <a14:m>
                  <m:oMath xmlns:m="http://schemas.openxmlformats.org/officeDocument/2006/math">
                    <m:r>
                      <a:rPr lang="ko-KR" altLang="ko-KR" sz="1600" b="1" i="1">
                        <a:latin typeface="Cambria Math" panose="02040503050406030204" pitchFamily="18" charset="0"/>
                      </a:rPr>
                      <m:t>𝜸</m:t>
                    </m:r>
                  </m:oMath>
                </a14:m>
                <a:r>
                  <a:rPr lang="en-US" altLang="ko-KR" sz="1600" b="1"/>
                  <a:t> factor </a:t>
                </a:r>
                <a:r>
                  <a:rPr lang="ko-KR" altLang="ko-KR" sz="1600" b="1"/>
                  <a:t>적용 효과 </a:t>
                </a:r>
                <a:r>
                  <a:rPr lang="en-US" altLang="ko-KR" sz="1600" b="1"/>
                  <a:t>(reference: CROMA, XS generation: CROMA)</a:t>
                </a:r>
              </a:p>
              <a:p>
                <a:pPr marL="1200150" lvl="2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600" b="1"/>
                  <a:t>APR1400 benchmark (2D, V01~V09)</a:t>
                </a:r>
              </a:p>
              <a:p>
                <a:pPr marL="1200150" lvl="2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600" b="1"/>
                  <a:t>APR1400, OPR1000, i-SMR (2D, depletion)</a:t>
                </a:r>
              </a:p>
              <a:p>
                <a:pPr marL="1200150" lvl="2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600" b="1"/>
                  <a:t>3D problem: i-SMR ARO, rodded (CROMA </a:t>
                </a:r>
                <a:r>
                  <a:rPr lang="ko-KR" altLang="en-US" sz="1600" b="1"/>
                  <a:t>제어봉 위치 고정</a:t>
                </a:r>
                <a:r>
                  <a:rPr lang="en-US" altLang="ko-KR" sz="1600" b="1"/>
                  <a:t>)</a:t>
                </a:r>
              </a:p>
              <a:p>
                <a:pPr marL="1200150" lvl="2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sz="1600" b="1"/>
              </a:p>
              <a:p>
                <a:pPr marL="742950" lvl="1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1600" b="1"/>
                  <a:t>종합 비교 </a:t>
                </a:r>
                <a:r>
                  <a:rPr lang="en-US" altLang="ko-KR" sz="1600" b="1"/>
                  <a:t>(?)</a:t>
                </a:r>
              </a:p>
              <a:p>
                <a:pPr marL="1200150" lvl="2" indent="-28575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600" b="1"/>
                  <a:t>PRAGMA vs. CROMA vs. SPHINCS pin (SPH+Dcorrection) vs. SPHINCS nodal</a:t>
                </a:r>
              </a:p>
              <a:p>
                <a:pPr lvl="2">
                  <a:lnSpc>
                    <a:spcPct val="150000"/>
                  </a:lnSpc>
                </a:pPr>
                <a:br>
                  <a:rPr lang="ko-KR" altLang="ko-KR" sz="1600" b="1"/>
                </a:br>
                <a:endParaRPr lang="ko-KR" altLang="en-US" sz="1600" b="1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B301C1-52E4-7319-7D4F-3B0A95DE0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975" y="982913"/>
                <a:ext cx="11220664" cy="3784177"/>
              </a:xfrm>
              <a:prstGeom prst="rect">
                <a:avLst/>
              </a:prstGeom>
              <a:blipFill>
                <a:blip r:embed="rId2"/>
                <a:stretch>
                  <a:fillRect l="-3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4203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8CA32-1D0D-97CF-1032-17CD09DB4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CE5EF5-CB1F-C8C3-9061-3296272E9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75" y="69215"/>
            <a:ext cx="10373582" cy="685165"/>
          </a:xfrm>
        </p:spPr>
        <p:txBody>
          <a:bodyPr>
            <a:normAutofit/>
          </a:bodyPr>
          <a:lstStyle/>
          <a:p>
            <a:r>
              <a:rPr lang="ko-KR" altLang="en-US"/>
              <a:t>요청사항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B5141D-CC56-B341-8747-A6BCC277586F}"/>
              </a:ext>
            </a:extLst>
          </p:cNvPr>
          <p:cNvSpPr txBox="1"/>
          <p:nvPr/>
        </p:nvSpPr>
        <p:spPr>
          <a:xfrm>
            <a:off x="688975" y="982913"/>
            <a:ext cx="11220664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/>
              <a:t>CROMA z</a:t>
            </a:r>
            <a:r>
              <a:rPr lang="ko-KR" altLang="en-US" b="1"/>
              <a:t>축 </a:t>
            </a:r>
            <a:r>
              <a:rPr lang="en-US" altLang="ko-KR" b="1"/>
              <a:t>current </a:t>
            </a:r>
            <a:r>
              <a:rPr lang="ko-KR" altLang="en-US" b="1"/>
              <a:t>출력 </a:t>
            </a:r>
            <a:endParaRPr lang="en-US" altLang="ko-KR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b="1"/>
              <a:t>CROMA </a:t>
            </a:r>
            <a:r>
              <a:rPr lang="ko-KR" altLang="en-US" b="1"/>
              <a:t>리눅스 버전 실행파일</a:t>
            </a:r>
            <a:br>
              <a:rPr lang="ko-KR" altLang="ko-KR" b="1"/>
            </a:b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3454950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7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61875</TotalTime>
  <Words>692</Words>
  <Application>Microsoft Office PowerPoint</Application>
  <PresentationFormat>와이드스크린</PresentationFormat>
  <Paragraphs>120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-apple-system</vt:lpstr>
      <vt:lpstr>맑은 고딕</vt:lpstr>
      <vt:lpstr>Arial</vt:lpstr>
      <vt:lpstr>Calibri</vt:lpstr>
      <vt:lpstr>Cambria Math</vt:lpstr>
      <vt:lpstr>Wingdings</vt:lpstr>
      <vt:lpstr>Office 主题</vt:lpstr>
      <vt:lpstr>디자인 사용자 지정</vt:lpstr>
      <vt:lpstr>업무내용 </vt:lpstr>
      <vt:lpstr>CROMA 3D vs. PRAGMA 비교: i-SMR ARO problem (BOC, Xenon transient)</vt:lpstr>
      <vt:lpstr>CROMA 3D vs. PRAGMA 비교: i-SMR ARO problem (BOC, Xenon transient)</vt:lpstr>
      <vt:lpstr>CROMA 3D vs. SPHINCS 비교 (Xe transient)</vt:lpstr>
      <vt:lpstr>PRAGMA vs. SPHINCS 비교 (Xe transient)</vt:lpstr>
      <vt:lpstr>종합비교 표 요약 (vs. PRAGMA)</vt:lpstr>
      <vt:lpstr>업무내용 </vt:lpstr>
      <vt:lpstr>요청사항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이우진</cp:lastModifiedBy>
  <cp:revision>8178</cp:revision>
  <dcterms:created xsi:type="dcterms:W3CDTF">2024-07-01T04:51:00Z</dcterms:created>
  <dcterms:modified xsi:type="dcterms:W3CDTF">2026-09-29T15:11:36Z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787F7AD9A51F4182B3E71ACD8B757328</vt:lpwstr>
  </property>
  <property fmtid="{D5CDD505-2E9C-101B-9397-08002B2CF9AE}" pid="3" name="KSOProductBuildVer">
    <vt:lpwstr>2052-11.8.2.11718</vt:lpwstr>
  </property>
</Properties>
</file>